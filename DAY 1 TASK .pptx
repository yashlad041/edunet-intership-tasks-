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Lst>
  <p:notesMasterIdLst>
    <p:notesMasterId r:id="rId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notesMaster" Target="notesMasters/notesMaster1.xml"/><Relationship Id="rId8" Type="http://schemas.openxmlformats.org/officeDocument/2006/relationships/presProps" Target="presProps.xml"/><Relationship Id="rId9" Type="http://schemas.openxmlformats.org/officeDocument/2006/relationships/viewProps" Target="viewProps.xml"/><Relationship Id="rId10" Type="http://schemas.openxmlformats.org/officeDocument/2006/relationships/theme" Target="theme/theme1.xml"/><Relationship Id="rId1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slideLayout" Target="../slideLayouts/slideLayout1.xml"/><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slideLayout" Target="../slideLayouts/slideLayout1.xml"/><Relationship Id="rId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slideLayout" Target="../slideLayouts/slideLayout1.xml"/><Relationship Id="rId7" Type="http://schemas.openxmlformats.org/officeDocument/2006/relationships/notesSlide" Target="../notesSlides/notesSlide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85800" y="594360"/>
            <a:ext cx="1371600" cy="1371600"/>
          </a:xfrm>
          <a:prstGeom prst="ellipse">
            <a:avLst/>
          </a:prstGeom>
          <a:solidFill>
            <a:srgbClr val="00C853"/>
          </a:solidFill>
          <a:ln/>
          <a:effectLst>
            <a:outerShdw sx="100000" sy="100000" kx="0" ky="0" algn="bl" rotWithShape="0" blurRad="76200" dist="25400" dir="5400000">
              <a:srgbClr val="1B5E20">
                <a:alpha val="18000"/>
              </a:srgbClr>
            </a:outerShdw>
          </a:effectLst>
        </p:spPr>
      </p:sp>
      <p:pic>
        <p:nvPicPr>
          <p:cNvPr id="3" name="Image 0" descr="preencoded.png">    </p:cNvPr>
          <p:cNvPicPr>
            <a:picLocks noChangeAspect="1"/>
          </p:cNvPicPr>
          <p:nvPr/>
        </p:nvPicPr>
        <p:blipFill>
          <a:blip r:embed="rId1"/>
          <a:stretch>
            <a:fillRect/>
          </a:stretch>
        </p:blipFill>
        <p:spPr>
          <a:xfrm>
            <a:off x="994410" y="902970"/>
            <a:ext cx="754380" cy="754380"/>
          </a:xfrm>
          <a:prstGeom prst="rect">
            <a:avLst/>
          </a:prstGeom>
        </p:spPr>
      </p:pic>
      <p:sp>
        <p:nvSpPr>
          <p:cNvPr id="4" name="Text 1"/>
          <p:cNvSpPr/>
          <p:nvPr/>
        </p:nvSpPr>
        <p:spPr>
          <a:xfrm>
            <a:off x="548640" y="2286000"/>
            <a:ext cx="11064240" cy="1005840"/>
          </a:xfrm>
          <a:prstGeom prst="rect">
            <a:avLst/>
          </a:prstGeom>
          <a:noFill/>
          <a:ln/>
        </p:spPr>
        <p:txBody>
          <a:bodyPr wrap="square" rtlCol="0" anchor="ctr"/>
          <a:lstStyle/>
          <a:p>
            <a:pPr algn="l" indent="0" marL="0">
              <a:buNone/>
            </a:pPr>
            <a:r>
              <a:rPr lang="en-US" sz="4000" b="1" dirty="0">
                <a:solidFill>
                  <a:srgbClr val="17211C"/>
                </a:solidFill>
                <a:latin typeface="Cambria" pitchFamily="34" charset="0"/>
                <a:ea typeface="Cambria" pitchFamily="34" charset="-122"/>
                <a:cs typeface="Cambria" pitchFamily="34" charset="-120"/>
              </a:rPr>
              <a:t>AI FOR A GREENER TOMORROW</a:t>
            </a:r>
            <a:endParaRPr lang="en-US" sz="4000" dirty="0"/>
          </a:p>
        </p:txBody>
      </p:sp>
      <p:sp>
        <p:nvSpPr>
          <p:cNvPr id="5" name="Text 2"/>
          <p:cNvSpPr/>
          <p:nvPr/>
        </p:nvSpPr>
        <p:spPr>
          <a:xfrm>
            <a:off x="548640" y="3200400"/>
            <a:ext cx="10515600" cy="640080"/>
          </a:xfrm>
          <a:prstGeom prst="rect">
            <a:avLst/>
          </a:prstGeom>
          <a:noFill/>
          <a:ln/>
        </p:spPr>
        <p:txBody>
          <a:bodyPr wrap="square" rtlCol="0" anchor="ctr"/>
          <a:lstStyle/>
          <a:p>
            <a:pPr indent="0" marL="0">
              <a:buNone/>
            </a:pPr>
            <a:r>
              <a:rPr lang="en-US" sz="1600" i="1" dirty="0">
                <a:solidFill>
                  <a:srgbClr val="0B6E4F"/>
                </a:solidFill>
                <a:latin typeface="Calibri" pitchFamily="34" charset="0"/>
                <a:ea typeface="Calibri" pitchFamily="34" charset="-122"/>
                <a:cs typeface="Calibri" pitchFamily="34" charset="-120"/>
              </a:rPr>
              <a:t>Artificial Intelligence, Sustainability &amp; Green Skilling — under SDG 17: Partnerships for the Goals</a:t>
            </a:r>
            <a:endParaRPr lang="en-US" sz="1600" dirty="0"/>
          </a:p>
        </p:txBody>
      </p:sp>
      <p:sp>
        <p:nvSpPr>
          <p:cNvPr id="6" name="Shape 3"/>
          <p:cNvSpPr/>
          <p:nvPr/>
        </p:nvSpPr>
        <p:spPr>
          <a:xfrm>
            <a:off x="548640" y="4206240"/>
            <a:ext cx="5852160" cy="1965960"/>
          </a:xfrm>
          <a:prstGeom prst="roundRect">
            <a:avLst>
              <a:gd name="adj" fmla="val 3721"/>
            </a:avLst>
          </a:prstGeom>
          <a:solidFill>
            <a:srgbClr val="EFFBF3"/>
          </a:solidFill>
          <a:ln/>
          <a:effectLst>
            <a:outerShdw sx="100000" sy="100000" kx="0" ky="0" algn="bl" rotWithShape="0" blurRad="101600" dist="38100" dir="2700000">
              <a:srgbClr val="000000">
                <a:alpha val="12000"/>
              </a:srgbClr>
            </a:outerShdw>
          </a:effectLst>
        </p:spPr>
      </p:sp>
      <p:sp>
        <p:nvSpPr>
          <p:cNvPr id="7" name="Text 4"/>
          <p:cNvSpPr/>
          <p:nvPr/>
        </p:nvSpPr>
        <p:spPr>
          <a:xfrm>
            <a:off x="868680" y="4389120"/>
            <a:ext cx="5303520" cy="1645920"/>
          </a:xfrm>
          <a:prstGeom prst="rect">
            <a:avLst/>
          </a:prstGeom>
          <a:noFill/>
          <a:ln/>
        </p:spPr>
        <p:txBody>
          <a:bodyPr wrap="square" rtlCol="0" anchor="ctr"/>
          <a:lstStyle/>
          <a:p>
            <a:pPr indent="0" marL="0">
              <a:buNone/>
            </a:pPr>
            <a:r>
              <a:rPr lang="en-US" sz="1800" b="1" dirty="0">
                <a:solidFill>
                  <a:srgbClr val="17211C"/>
                </a:solidFill>
                <a:latin typeface="Calibri" pitchFamily="34" charset="0"/>
                <a:ea typeface="Calibri" pitchFamily="34" charset="-122"/>
                <a:cs typeface="Calibri" pitchFamily="34" charset="-120"/>
              </a:rPr>
              <a:t>Yash Bhaveshbhai Lad</a:t>
            </a:r>
            <a:endParaRPr lang="en-US" sz="1800" dirty="0"/>
          </a:p>
          <a:p>
            <a:pPr indent="0" marL="0">
              <a:buNone/>
            </a:pPr>
            <a:r>
              <a:rPr lang="en-US" sz="1300" dirty="0">
                <a:solidFill>
                  <a:srgbClr val="5C6B64"/>
                </a:solidFill>
                <a:latin typeface="Calibri" pitchFamily="34" charset="0"/>
                <a:ea typeface="Calibri" pitchFamily="34" charset="-122"/>
                <a:cs typeface="Calibri" pitchFamily="34" charset="-120"/>
              </a:rPr>
              <a:t>Enrollment No: 230840131041</a:t>
            </a:r>
            <a:endParaRPr lang="en-US" sz="1800" dirty="0"/>
          </a:p>
          <a:p>
            <a:pPr indent="0" marL="0">
              <a:buNone/>
            </a:pPr>
            <a:r>
              <a:rPr lang="en-US" sz="1300" dirty="0">
                <a:solidFill>
                  <a:srgbClr val="5C6B64"/>
                </a:solidFill>
                <a:latin typeface="Calibri" pitchFamily="34" charset="0"/>
                <a:ea typeface="Calibri" pitchFamily="34" charset="-122"/>
                <a:cs typeface="Calibri" pitchFamily="34" charset="-120"/>
              </a:rPr>
              <a:t>BE — Computer Science &amp; Engineering</a:t>
            </a:r>
            <a:endParaRPr lang="en-US" sz="1800" dirty="0"/>
          </a:p>
          <a:p>
            <a:pPr indent="0" marL="0">
              <a:buNone/>
            </a:pPr>
            <a:r>
              <a:rPr lang="en-US" sz="1300" dirty="0">
                <a:solidFill>
                  <a:srgbClr val="5C6B64"/>
                </a:solidFill>
                <a:latin typeface="Calibri" pitchFamily="34" charset="0"/>
                <a:ea typeface="Calibri" pitchFamily="34" charset="-122"/>
                <a:cs typeface="Calibri" pitchFamily="34" charset="-120"/>
              </a:rPr>
              <a:t>R.N.G. Patel Institute of Technology</a:t>
            </a:r>
            <a:endParaRPr lang="en-US" sz="1800" dirty="0"/>
          </a:p>
        </p:txBody>
      </p:sp>
      <p:sp>
        <p:nvSpPr>
          <p:cNvPr id="8" name="Text 5"/>
          <p:cNvSpPr/>
          <p:nvPr/>
        </p:nvSpPr>
        <p:spPr>
          <a:xfrm>
            <a:off x="7863840" y="4297680"/>
            <a:ext cx="3566160" cy="457200"/>
          </a:xfrm>
          <a:prstGeom prst="rect">
            <a:avLst/>
          </a:prstGeom>
          <a:noFill/>
          <a:ln/>
        </p:spPr>
        <p:txBody>
          <a:bodyPr wrap="square" rtlCol="0" anchor="ctr"/>
          <a:lstStyle/>
          <a:p>
            <a:pPr indent="0" marL="0">
              <a:buNone/>
            </a:pPr>
            <a:r>
              <a:rPr lang="en-US" sz="1400" b="1" dirty="0">
                <a:solidFill>
                  <a:srgbClr val="FF6D00"/>
                </a:solidFill>
                <a:latin typeface="Calibri" pitchFamily="34" charset="0"/>
                <a:ea typeface="Calibri" pitchFamily="34" charset="-122"/>
                <a:cs typeface="Calibri" pitchFamily="34" charset="-120"/>
              </a:rPr>
              <a:t>SDG 17</a:t>
            </a:r>
            <a:endParaRPr lang="en-US" sz="1400" dirty="0"/>
          </a:p>
        </p:txBody>
      </p:sp>
      <p:sp>
        <p:nvSpPr>
          <p:cNvPr id="9" name="Text 6"/>
          <p:cNvSpPr/>
          <p:nvPr/>
        </p:nvSpPr>
        <p:spPr>
          <a:xfrm>
            <a:off x="7863840" y="4663440"/>
            <a:ext cx="3749040" cy="1463040"/>
          </a:xfrm>
          <a:prstGeom prst="rect">
            <a:avLst/>
          </a:prstGeom>
          <a:noFill/>
          <a:ln/>
        </p:spPr>
        <p:txBody>
          <a:bodyPr wrap="square" rtlCol="0" anchor="ctr"/>
          <a:lstStyle/>
          <a:p>
            <a:pPr indent="0" marL="0">
              <a:buNone/>
            </a:pPr>
            <a:r>
              <a:rPr lang="en-US" sz="1200" dirty="0">
                <a:solidFill>
                  <a:srgbClr val="5C6B64"/>
                </a:solidFill>
                <a:latin typeface="Calibri" pitchFamily="34" charset="0"/>
                <a:ea typeface="Calibri" pitchFamily="34" charset="-122"/>
                <a:cs typeface="Calibri" pitchFamily="34" charset="-120"/>
              </a:rPr>
              <a:t>A one-page look at what data-centre footprints, carbon</a:t>
            </a:r>
            <a:endParaRPr lang="en-US" sz="1200" dirty="0"/>
          </a:p>
          <a:p>
            <a:pPr indent="0" marL="0">
              <a:buNone/>
            </a:pPr>
            <a:r>
              <a:rPr lang="en-US" sz="1200" dirty="0">
                <a:solidFill>
                  <a:srgbClr val="5C6B64"/>
                </a:solidFill>
                <a:latin typeface="Calibri" pitchFamily="34" charset="0"/>
                <a:ea typeface="Calibri" pitchFamily="34" charset="-122"/>
                <a:cs typeface="Calibri" pitchFamily="34" charset="-120"/>
              </a:rPr>
              <a:t>calculators and climate simulators taught me — and a capstone</a:t>
            </a:r>
            <a:endParaRPr lang="en-US" sz="1200" dirty="0"/>
          </a:p>
          <a:p>
            <a:pPr indent="0" marL="0">
              <a:buNone/>
            </a:pPr>
            <a:r>
              <a:rPr lang="en-US" sz="1200" dirty="0">
                <a:solidFill>
                  <a:srgbClr val="5C6B64"/>
                </a:solidFill>
                <a:latin typeface="Calibri" pitchFamily="34" charset="0"/>
                <a:ea typeface="Calibri" pitchFamily="34" charset="-122"/>
                <a:cs typeface="Calibri" pitchFamily="34" charset="-120"/>
              </a:rPr>
              <a:t>idea that turns it into action.</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11064240" cy="640080"/>
          </a:xfrm>
          <a:prstGeom prst="rect">
            <a:avLst/>
          </a:prstGeom>
          <a:noFill/>
          <a:ln/>
        </p:spPr>
        <p:txBody>
          <a:bodyPr wrap="square" rtlCol="0" anchor="ctr"/>
          <a:lstStyle/>
          <a:p>
            <a:pPr indent="0" marL="0">
              <a:buNone/>
            </a:pPr>
            <a:r>
              <a:rPr lang="en-US" sz="3000" b="1" dirty="0">
                <a:solidFill>
                  <a:srgbClr val="17211C"/>
                </a:solidFill>
                <a:latin typeface="Cambria" pitchFamily="34" charset="0"/>
                <a:ea typeface="Cambria" pitchFamily="34" charset="-122"/>
                <a:cs typeface="Cambria" pitchFamily="34" charset="-120"/>
              </a:rPr>
              <a:t>WHAT I LEARNED FROM THE RESOURCES</a:t>
            </a:r>
            <a:endParaRPr lang="en-US" sz="3000" dirty="0"/>
          </a:p>
        </p:txBody>
      </p:sp>
      <p:sp>
        <p:nvSpPr>
          <p:cNvPr id="3" name="Text 1"/>
          <p:cNvSpPr/>
          <p:nvPr/>
        </p:nvSpPr>
        <p:spPr>
          <a:xfrm>
            <a:off x="640080" y="1280160"/>
            <a:ext cx="10881360" cy="5029200"/>
          </a:xfrm>
          <a:prstGeom prst="rect">
            <a:avLst/>
          </a:prstGeom>
          <a:noFill/>
          <a:ln/>
        </p:spPr>
        <p:txBody>
          <a:bodyPr wrap="square" rtlCol="0" anchor="t"/>
          <a:lstStyle/>
          <a:p>
            <a:pPr algn="l" indent="0" marL="0">
              <a:lnSpc>
                <a:spcPct val="115000"/>
              </a:lnSpc>
              <a:spcAft>
                <a:spcPts val="600"/>
              </a:spcAft>
              <a:buNone/>
            </a:pPr>
            <a:r>
              <a:rPr lang="en-US" sz="1500" dirty="0">
                <a:solidFill>
                  <a:srgbClr val="2B332F"/>
                </a:solidFill>
                <a:latin typeface="Calibri" pitchFamily="34" charset="0"/>
                <a:ea typeface="Calibri" pitchFamily="34" charset="-122"/>
                <a:cs typeface="Calibri" pitchFamily="34" charset="-120"/>
              </a:rPr>
              <a:t>Going through these links gave me a much clearer, practical picture of sustainability instead of just a textbook idea. The data-centre video was an eye-opener - it showed that every AI tool and cloud service we casually use everyday actually runs on massive server farms that consume huge amounts of electricity and water for cooling, so 'digital' activity is not really free of environmental cost. Trying out the Ecological Footprint Calculator, the EcoTransIT emission calculator, and the Govt. of India's e-AMRIT CO2 calculator helped me connect this to my own life: small daily choices like travel mode, electricity usage, and diet quietly add up into a real personal carbon footprint that can actually be measured in numbers. Playing with the MIT En-ROADS simulator made it even clearer - moving just one slider like carbon price or renewable energy share instantly changed the projected global temperature, which showed me how much impact policy-level decisions can have compared to individual choices alone. Learning about SDG 17 tied all of this together: none of these tools or fixes work in isolation, real progress needs governments, companies, colleges, and individuals partnering and sharing data and responsibility. Finally, seeing real examples like AI-powered smart waste bins (NANDO) and the Skill Council for Green Jobs (SCGJ) with programs like Suryamitra showed me that this isn't just theory - there are already real jobs and real technology built around solving these problems, and 'green skilling' is simply the process of preparing people, including students like me, to take part in that solution.</a:t>
            </a:r>
            <a:endParaRPr lang="en-US" sz="15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11064240" cy="640080"/>
          </a:xfrm>
          <a:prstGeom prst="rect">
            <a:avLst/>
          </a:prstGeom>
          <a:noFill/>
          <a:ln/>
        </p:spPr>
        <p:txBody>
          <a:bodyPr wrap="square" rtlCol="0" anchor="ctr"/>
          <a:lstStyle/>
          <a:p>
            <a:pPr indent="0" marL="0">
              <a:buNone/>
            </a:pPr>
            <a:r>
              <a:rPr lang="en-US" sz="2600" b="1" dirty="0">
                <a:solidFill>
                  <a:srgbClr val="17211C"/>
                </a:solidFill>
                <a:latin typeface="Cambria" pitchFamily="34" charset="0"/>
                <a:ea typeface="Cambria" pitchFamily="34" charset="-122"/>
                <a:cs typeface="Cambria" pitchFamily="34" charset="-120"/>
              </a:rPr>
              <a:t>ACTIVITIES EXPLORED — HANDS-ON WITH THE TOOLS</a:t>
            </a:r>
            <a:endParaRPr lang="en-US" sz="2600" dirty="0"/>
          </a:p>
        </p:txBody>
      </p:sp>
      <p:sp>
        <p:nvSpPr>
          <p:cNvPr id="3" name="Text 1"/>
          <p:cNvSpPr/>
          <p:nvPr/>
        </p:nvSpPr>
        <p:spPr>
          <a:xfrm>
            <a:off x="548640" y="960120"/>
            <a:ext cx="11064240" cy="365760"/>
          </a:xfrm>
          <a:prstGeom prst="rect">
            <a:avLst/>
          </a:prstGeom>
          <a:noFill/>
          <a:ln/>
        </p:spPr>
        <p:txBody>
          <a:bodyPr wrap="square" rtlCol="0" anchor="ctr"/>
          <a:lstStyle/>
          <a:p>
            <a:pPr indent="0" marL="0">
              <a:buNone/>
            </a:pPr>
            <a:r>
              <a:rPr lang="en-US" sz="1050" i="1" dirty="0">
                <a:solidFill>
                  <a:srgbClr val="5C6B64"/>
                </a:solidFill>
                <a:latin typeface="Calibri" pitchFamily="34" charset="0"/>
                <a:ea typeface="Calibri" pitchFamily="34" charset="-122"/>
                <a:cs typeface="Calibri" pitchFamily="34" charset="-120"/>
              </a:rPr>
              <a:t>Note: live screenshots of each website could not be captured directly in this file — the cards below summarise the hands-on result from each tool, in place of a raw screen-grab.</a:t>
            </a:r>
            <a:endParaRPr lang="en-US" sz="1050" dirty="0"/>
          </a:p>
        </p:txBody>
      </p:sp>
      <p:sp>
        <p:nvSpPr>
          <p:cNvPr id="4" name="Shape 2"/>
          <p:cNvSpPr/>
          <p:nvPr/>
        </p:nvSpPr>
        <p:spPr>
          <a:xfrm>
            <a:off x="548640" y="1508760"/>
            <a:ext cx="5349240" cy="2148840"/>
          </a:xfrm>
          <a:prstGeom prst="roundRect">
            <a:avLst>
              <a:gd name="adj" fmla="val 3404"/>
            </a:avLst>
          </a:prstGeom>
          <a:solidFill>
            <a:srgbClr val="EFFBF3"/>
          </a:solidFill>
          <a:ln/>
          <a:effectLst>
            <a:outerShdw sx="100000" sy="100000" kx="0" ky="0" algn="bl" rotWithShape="0" blurRad="76200" dist="25400" dir="2700000">
              <a:srgbClr val="000000">
                <a:alpha val="10000"/>
              </a:srgbClr>
            </a:outerShdw>
          </a:effectLst>
        </p:spPr>
      </p:sp>
      <p:sp>
        <p:nvSpPr>
          <p:cNvPr id="5" name="Shape 3"/>
          <p:cNvSpPr/>
          <p:nvPr/>
        </p:nvSpPr>
        <p:spPr>
          <a:xfrm>
            <a:off x="786384" y="1700784"/>
            <a:ext cx="621792" cy="621792"/>
          </a:xfrm>
          <a:prstGeom prst="ellipse">
            <a:avLst/>
          </a:prstGeom>
          <a:solidFill>
            <a:srgbClr val="00C853"/>
          </a:solidFill>
          <a:ln/>
          <a:effectLst>
            <a:outerShdw sx="100000" sy="100000" kx="0" ky="0" algn="bl" rotWithShape="0" blurRad="76200" dist="25400" dir="5400000">
              <a:srgbClr val="1B5E20">
                <a:alpha val="18000"/>
              </a:srgbClr>
            </a:outerShdw>
          </a:effectLst>
        </p:spPr>
      </p:sp>
      <p:pic>
        <p:nvPicPr>
          <p:cNvPr id="6" name="Image 0" descr="preencoded.png">    </p:cNvPr>
          <p:cNvPicPr>
            <a:picLocks noChangeAspect="1"/>
          </p:cNvPicPr>
          <p:nvPr/>
        </p:nvPicPr>
        <p:blipFill>
          <a:blip r:embed="rId1"/>
          <a:stretch>
            <a:fillRect/>
          </a:stretch>
        </p:blipFill>
        <p:spPr>
          <a:xfrm>
            <a:off x="926287" y="1840687"/>
            <a:ext cx="341986" cy="341986"/>
          </a:xfrm>
          <a:prstGeom prst="rect">
            <a:avLst/>
          </a:prstGeom>
        </p:spPr>
      </p:pic>
      <p:sp>
        <p:nvSpPr>
          <p:cNvPr id="7" name="Text 4"/>
          <p:cNvSpPr/>
          <p:nvPr/>
        </p:nvSpPr>
        <p:spPr>
          <a:xfrm>
            <a:off x="1508760" y="1709928"/>
            <a:ext cx="4160520" cy="594360"/>
          </a:xfrm>
          <a:prstGeom prst="rect">
            <a:avLst/>
          </a:prstGeom>
          <a:noFill/>
          <a:ln/>
        </p:spPr>
        <p:txBody>
          <a:bodyPr wrap="square" rtlCol="0" anchor="t"/>
          <a:lstStyle/>
          <a:p>
            <a:pPr indent="0" marL="0">
              <a:buNone/>
            </a:pPr>
            <a:r>
              <a:rPr lang="en-US" sz="1350" b="1" dirty="0">
                <a:solidFill>
                  <a:srgbClr val="0B6E4F"/>
                </a:solidFill>
                <a:latin typeface="Calibri" pitchFamily="34" charset="0"/>
                <a:ea typeface="Calibri" pitchFamily="34" charset="-122"/>
                <a:cs typeface="Calibri" pitchFamily="34" charset="-120"/>
              </a:rPr>
              <a:t>Ecological Footprint Calculator</a:t>
            </a:r>
            <a:endParaRPr lang="en-US" sz="1350" dirty="0"/>
          </a:p>
        </p:txBody>
      </p:sp>
      <p:sp>
        <p:nvSpPr>
          <p:cNvPr id="8" name="Text 5"/>
          <p:cNvSpPr/>
          <p:nvPr/>
        </p:nvSpPr>
        <p:spPr>
          <a:xfrm>
            <a:off x="868680" y="2423160"/>
            <a:ext cx="4709160" cy="1097280"/>
          </a:xfrm>
          <a:prstGeom prst="rect">
            <a:avLst/>
          </a:prstGeom>
          <a:noFill/>
          <a:ln/>
        </p:spPr>
        <p:txBody>
          <a:bodyPr wrap="square" rtlCol="0" anchor="t"/>
          <a:lstStyle/>
          <a:p>
            <a:pPr indent="0" marL="0">
              <a:buNone/>
            </a:pPr>
            <a:r>
              <a:rPr lang="en-US" sz="1100" dirty="0">
                <a:solidFill>
                  <a:srgbClr val="2B332F"/>
                </a:solidFill>
                <a:latin typeface="Calibri" pitchFamily="34" charset="0"/>
                <a:ea typeface="Calibri" pitchFamily="34" charset="-122"/>
                <a:cs typeface="Calibri" pitchFamily="34" charset="-120"/>
              </a:rPr>
              <a:t>Answered lifestyle questions (travel, diet, home energy) - result: number of 'Earths' needed if everyone lived this way.</a:t>
            </a:r>
            <a:endParaRPr lang="en-US" sz="1100" dirty="0"/>
          </a:p>
        </p:txBody>
      </p:sp>
      <p:sp>
        <p:nvSpPr>
          <p:cNvPr id="9" name="Shape 6"/>
          <p:cNvSpPr/>
          <p:nvPr/>
        </p:nvSpPr>
        <p:spPr>
          <a:xfrm>
            <a:off x="6263640" y="1508760"/>
            <a:ext cx="5349240" cy="2148840"/>
          </a:xfrm>
          <a:prstGeom prst="roundRect">
            <a:avLst>
              <a:gd name="adj" fmla="val 3404"/>
            </a:avLst>
          </a:prstGeom>
          <a:solidFill>
            <a:srgbClr val="EFFBF3"/>
          </a:solidFill>
          <a:ln/>
          <a:effectLst>
            <a:outerShdw sx="100000" sy="100000" kx="0" ky="0" algn="bl" rotWithShape="0" blurRad="76200" dist="25400" dir="2700000">
              <a:srgbClr val="000000">
                <a:alpha val="10000"/>
              </a:srgbClr>
            </a:outerShdw>
          </a:effectLst>
        </p:spPr>
      </p:sp>
      <p:sp>
        <p:nvSpPr>
          <p:cNvPr id="10" name="Shape 7"/>
          <p:cNvSpPr/>
          <p:nvPr/>
        </p:nvSpPr>
        <p:spPr>
          <a:xfrm>
            <a:off x="6501384" y="1700784"/>
            <a:ext cx="621792" cy="621792"/>
          </a:xfrm>
          <a:prstGeom prst="ellipse">
            <a:avLst/>
          </a:prstGeom>
          <a:solidFill>
            <a:srgbClr val="00C853"/>
          </a:solidFill>
          <a:ln/>
          <a:effectLst>
            <a:outerShdw sx="100000" sy="100000" kx="0" ky="0" algn="bl" rotWithShape="0" blurRad="76200" dist="25400" dir="5400000">
              <a:srgbClr val="1B5E20">
                <a:alpha val="18000"/>
              </a:srgbClr>
            </a:outerShdw>
          </a:effectLst>
        </p:spPr>
      </p:sp>
      <p:pic>
        <p:nvPicPr>
          <p:cNvPr id="11" name="Image 1" descr="preencoded.png">    </p:cNvPr>
          <p:cNvPicPr>
            <a:picLocks noChangeAspect="1"/>
          </p:cNvPicPr>
          <p:nvPr/>
        </p:nvPicPr>
        <p:blipFill>
          <a:blip r:embed="rId2"/>
          <a:stretch>
            <a:fillRect/>
          </a:stretch>
        </p:blipFill>
        <p:spPr>
          <a:xfrm>
            <a:off x="6641287" y="1840687"/>
            <a:ext cx="341986" cy="341986"/>
          </a:xfrm>
          <a:prstGeom prst="rect">
            <a:avLst/>
          </a:prstGeom>
        </p:spPr>
      </p:pic>
      <p:sp>
        <p:nvSpPr>
          <p:cNvPr id="12" name="Text 8"/>
          <p:cNvSpPr/>
          <p:nvPr/>
        </p:nvSpPr>
        <p:spPr>
          <a:xfrm>
            <a:off x="7223760" y="1709928"/>
            <a:ext cx="4160520" cy="594360"/>
          </a:xfrm>
          <a:prstGeom prst="rect">
            <a:avLst/>
          </a:prstGeom>
          <a:noFill/>
          <a:ln/>
        </p:spPr>
        <p:txBody>
          <a:bodyPr wrap="square" rtlCol="0" anchor="t"/>
          <a:lstStyle/>
          <a:p>
            <a:pPr indent="0" marL="0">
              <a:buNone/>
            </a:pPr>
            <a:r>
              <a:rPr lang="en-US" sz="1350" b="1" dirty="0">
                <a:solidFill>
                  <a:srgbClr val="0B6E4F"/>
                </a:solidFill>
                <a:latin typeface="Calibri" pitchFamily="34" charset="0"/>
                <a:ea typeface="Calibri" pitchFamily="34" charset="-122"/>
                <a:cs typeface="Calibri" pitchFamily="34" charset="-120"/>
              </a:rPr>
              <a:t>EcoTransIT Emission Calculator</a:t>
            </a:r>
            <a:endParaRPr lang="en-US" sz="1350" dirty="0"/>
          </a:p>
        </p:txBody>
      </p:sp>
      <p:sp>
        <p:nvSpPr>
          <p:cNvPr id="13" name="Text 9"/>
          <p:cNvSpPr/>
          <p:nvPr/>
        </p:nvSpPr>
        <p:spPr>
          <a:xfrm>
            <a:off x="6583680" y="2423160"/>
            <a:ext cx="4709160" cy="1097280"/>
          </a:xfrm>
          <a:prstGeom prst="rect">
            <a:avLst/>
          </a:prstGeom>
          <a:noFill/>
          <a:ln/>
        </p:spPr>
        <p:txBody>
          <a:bodyPr wrap="square" rtlCol="0" anchor="t"/>
          <a:lstStyle/>
          <a:p>
            <a:pPr indent="0" marL="0">
              <a:buNone/>
            </a:pPr>
            <a:r>
              <a:rPr lang="en-US" sz="1100" dirty="0">
                <a:solidFill>
                  <a:srgbClr val="2B332F"/>
                </a:solidFill>
                <a:latin typeface="Calibri" pitchFamily="34" charset="0"/>
                <a:ea typeface="Calibri" pitchFamily="34" charset="-122"/>
                <a:cs typeface="Calibri" pitchFamily="34" charset="-120"/>
              </a:rPr>
              <a:t>Entered a sample trip by car vs. train vs. flight - train came out lowest in CO2 emitted per person.</a:t>
            </a:r>
            <a:endParaRPr lang="en-US" sz="1100" dirty="0"/>
          </a:p>
        </p:txBody>
      </p:sp>
      <p:sp>
        <p:nvSpPr>
          <p:cNvPr id="14" name="Shape 10"/>
          <p:cNvSpPr/>
          <p:nvPr/>
        </p:nvSpPr>
        <p:spPr>
          <a:xfrm>
            <a:off x="548640" y="3886200"/>
            <a:ext cx="5349240" cy="2148840"/>
          </a:xfrm>
          <a:prstGeom prst="roundRect">
            <a:avLst>
              <a:gd name="adj" fmla="val 3404"/>
            </a:avLst>
          </a:prstGeom>
          <a:solidFill>
            <a:srgbClr val="EFFBF3"/>
          </a:solidFill>
          <a:ln/>
          <a:effectLst>
            <a:outerShdw sx="100000" sy="100000" kx="0" ky="0" algn="bl" rotWithShape="0" blurRad="76200" dist="25400" dir="2700000">
              <a:srgbClr val="000000">
                <a:alpha val="10000"/>
              </a:srgbClr>
            </a:outerShdw>
          </a:effectLst>
        </p:spPr>
      </p:sp>
      <p:sp>
        <p:nvSpPr>
          <p:cNvPr id="15" name="Shape 11"/>
          <p:cNvSpPr/>
          <p:nvPr/>
        </p:nvSpPr>
        <p:spPr>
          <a:xfrm>
            <a:off x="786384" y="4078224"/>
            <a:ext cx="621792" cy="621792"/>
          </a:xfrm>
          <a:prstGeom prst="ellipse">
            <a:avLst/>
          </a:prstGeom>
          <a:solidFill>
            <a:srgbClr val="00C853"/>
          </a:solidFill>
          <a:ln/>
          <a:effectLst>
            <a:outerShdw sx="100000" sy="100000" kx="0" ky="0" algn="bl" rotWithShape="0" blurRad="76200" dist="25400" dir="5400000">
              <a:srgbClr val="1B5E20">
                <a:alpha val="18000"/>
              </a:srgbClr>
            </a:outerShdw>
          </a:effectLst>
        </p:spPr>
      </p:sp>
      <p:pic>
        <p:nvPicPr>
          <p:cNvPr id="16" name="Image 2" descr="preencoded.png">    </p:cNvPr>
          <p:cNvPicPr>
            <a:picLocks noChangeAspect="1"/>
          </p:cNvPicPr>
          <p:nvPr/>
        </p:nvPicPr>
        <p:blipFill>
          <a:blip r:embed="rId3"/>
          <a:stretch>
            <a:fillRect/>
          </a:stretch>
        </p:blipFill>
        <p:spPr>
          <a:xfrm>
            <a:off x="926287" y="4218127"/>
            <a:ext cx="341986" cy="341986"/>
          </a:xfrm>
          <a:prstGeom prst="rect">
            <a:avLst/>
          </a:prstGeom>
        </p:spPr>
      </p:pic>
      <p:sp>
        <p:nvSpPr>
          <p:cNvPr id="17" name="Text 12"/>
          <p:cNvSpPr/>
          <p:nvPr/>
        </p:nvSpPr>
        <p:spPr>
          <a:xfrm>
            <a:off x="1508760" y="4087368"/>
            <a:ext cx="4160520" cy="594360"/>
          </a:xfrm>
          <a:prstGeom prst="rect">
            <a:avLst/>
          </a:prstGeom>
          <a:noFill/>
          <a:ln/>
        </p:spPr>
        <p:txBody>
          <a:bodyPr wrap="square" rtlCol="0" anchor="t"/>
          <a:lstStyle/>
          <a:p>
            <a:pPr indent="0" marL="0">
              <a:buNone/>
            </a:pPr>
            <a:r>
              <a:rPr lang="en-US" sz="1350" b="1" dirty="0">
                <a:solidFill>
                  <a:srgbClr val="0B6E4F"/>
                </a:solidFill>
                <a:latin typeface="Calibri" pitchFamily="34" charset="0"/>
                <a:ea typeface="Calibri" pitchFamily="34" charset="-122"/>
                <a:cs typeface="Calibri" pitchFamily="34" charset="-120"/>
              </a:rPr>
              <a:t>MIT En-ROADS Global Simulator</a:t>
            </a:r>
            <a:endParaRPr lang="en-US" sz="1350" dirty="0"/>
          </a:p>
        </p:txBody>
      </p:sp>
      <p:sp>
        <p:nvSpPr>
          <p:cNvPr id="18" name="Text 13"/>
          <p:cNvSpPr/>
          <p:nvPr/>
        </p:nvSpPr>
        <p:spPr>
          <a:xfrm>
            <a:off x="868680" y="4800600"/>
            <a:ext cx="4709160" cy="1097280"/>
          </a:xfrm>
          <a:prstGeom prst="rect">
            <a:avLst/>
          </a:prstGeom>
          <a:noFill/>
          <a:ln/>
        </p:spPr>
        <p:txBody>
          <a:bodyPr wrap="square" rtlCol="0" anchor="t"/>
          <a:lstStyle/>
          <a:p>
            <a:pPr indent="0" marL="0">
              <a:buNone/>
            </a:pPr>
            <a:r>
              <a:rPr lang="en-US" sz="1100" dirty="0">
                <a:solidFill>
                  <a:srgbClr val="2B332F"/>
                </a:solidFill>
                <a:latin typeface="Calibri" pitchFamily="34" charset="0"/>
                <a:ea typeface="Calibri" pitchFamily="34" charset="-122"/>
                <a:cs typeface="Calibri" pitchFamily="34" charset="-120"/>
              </a:rPr>
              <a:t>Increased 'carbon price' and renewable-energy slider - global temperature-rise projection dropped on the graph in real time.</a:t>
            </a:r>
            <a:endParaRPr lang="en-US" sz="1100" dirty="0"/>
          </a:p>
        </p:txBody>
      </p:sp>
      <p:sp>
        <p:nvSpPr>
          <p:cNvPr id="19" name="Shape 14"/>
          <p:cNvSpPr/>
          <p:nvPr/>
        </p:nvSpPr>
        <p:spPr>
          <a:xfrm>
            <a:off x="6263640" y="3886200"/>
            <a:ext cx="5349240" cy="2148840"/>
          </a:xfrm>
          <a:prstGeom prst="roundRect">
            <a:avLst>
              <a:gd name="adj" fmla="val 3404"/>
            </a:avLst>
          </a:prstGeom>
          <a:solidFill>
            <a:srgbClr val="EFFBF3"/>
          </a:solidFill>
          <a:ln/>
          <a:effectLst>
            <a:outerShdw sx="100000" sy="100000" kx="0" ky="0" algn="bl" rotWithShape="0" blurRad="76200" dist="25400" dir="2700000">
              <a:srgbClr val="000000">
                <a:alpha val="10000"/>
              </a:srgbClr>
            </a:outerShdw>
          </a:effectLst>
        </p:spPr>
      </p:sp>
      <p:sp>
        <p:nvSpPr>
          <p:cNvPr id="20" name="Shape 15"/>
          <p:cNvSpPr/>
          <p:nvPr/>
        </p:nvSpPr>
        <p:spPr>
          <a:xfrm>
            <a:off x="6501384" y="4078224"/>
            <a:ext cx="621792" cy="621792"/>
          </a:xfrm>
          <a:prstGeom prst="ellipse">
            <a:avLst/>
          </a:prstGeom>
          <a:solidFill>
            <a:srgbClr val="00C853"/>
          </a:solidFill>
          <a:ln/>
          <a:effectLst>
            <a:outerShdw sx="100000" sy="100000" kx="0" ky="0" algn="bl" rotWithShape="0" blurRad="76200" dist="25400" dir="5400000">
              <a:srgbClr val="1B5E20">
                <a:alpha val="18000"/>
              </a:srgbClr>
            </a:outerShdw>
          </a:effectLst>
        </p:spPr>
      </p:sp>
      <p:pic>
        <p:nvPicPr>
          <p:cNvPr id="21" name="Image 3" descr="preencoded.png">    </p:cNvPr>
          <p:cNvPicPr>
            <a:picLocks noChangeAspect="1"/>
          </p:cNvPicPr>
          <p:nvPr/>
        </p:nvPicPr>
        <p:blipFill>
          <a:blip r:embed="rId4"/>
          <a:stretch>
            <a:fillRect/>
          </a:stretch>
        </p:blipFill>
        <p:spPr>
          <a:xfrm>
            <a:off x="6641287" y="4218127"/>
            <a:ext cx="341986" cy="341986"/>
          </a:xfrm>
          <a:prstGeom prst="rect">
            <a:avLst/>
          </a:prstGeom>
        </p:spPr>
      </p:pic>
      <p:sp>
        <p:nvSpPr>
          <p:cNvPr id="22" name="Text 16"/>
          <p:cNvSpPr/>
          <p:nvPr/>
        </p:nvSpPr>
        <p:spPr>
          <a:xfrm>
            <a:off x="7223760" y="4087368"/>
            <a:ext cx="4160520" cy="594360"/>
          </a:xfrm>
          <a:prstGeom prst="rect">
            <a:avLst/>
          </a:prstGeom>
          <a:noFill/>
          <a:ln/>
        </p:spPr>
        <p:txBody>
          <a:bodyPr wrap="square" rtlCol="0" anchor="t"/>
          <a:lstStyle/>
          <a:p>
            <a:pPr indent="0" marL="0">
              <a:buNone/>
            </a:pPr>
            <a:r>
              <a:rPr lang="en-US" sz="1350" b="1" dirty="0">
                <a:solidFill>
                  <a:srgbClr val="0B6E4F"/>
                </a:solidFill>
                <a:latin typeface="Calibri" pitchFamily="34" charset="0"/>
                <a:ea typeface="Calibri" pitchFamily="34" charset="-122"/>
                <a:cs typeface="Calibri" pitchFamily="34" charset="-120"/>
              </a:rPr>
              <a:t>e-AMRIT CO2 Emissions Calculator (Govt. of India)</a:t>
            </a:r>
            <a:endParaRPr lang="en-US" sz="1350" dirty="0"/>
          </a:p>
        </p:txBody>
      </p:sp>
      <p:sp>
        <p:nvSpPr>
          <p:cNvPr id="23" name="Text 17"/>
          <p:cNvSpPr/>
          <p:nvPr/>
        </p:nvSpPr>
        <p:spPr>
          <a:xfrm>
            <a:off x="6583680" y="4800600"/>
            <a:ext cx="4709160" cy="1097280"/>
          </a:xfrm>
          <a:prstGeom prst="rect">
            <a:avLst/>
          </a:prstGeom>
          <a:noFill/>
          <a:ln/>
        </p:spPr>
        <p:txBody>
          <a:bodyPr wrap="square" rtlCol="0" anchor="t"/>
          <a:lstStyle/>
          <a:p>
            <a:pPr indent="0" marL="0">
              <a:buNone/>
            </a:pPr>
            <a:r>
              <a:rPr lang="en-US" sz="1100" dirty="0">
                <a:solidFill>
                  <a:srgbClr val="2B332F"/>
                </a:solidFill>
                <a:latin typeface="Calibri" pitchFamily="34" charset="0"/>
                <a:ea typeface="Calibri" pitchFamily="34" charset="-122"/>
                <a:cs typeface="Calibri" pitchFamily="34" charset="-120"/>
              </a:rPr>
              <a:t>Used household electricity + vehicle data - got an estimated yearly CO2 output in kg, with tips to reduce it.</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11480"/>
            <a:ext cx="11064240" cy="640080"/>
          </a:xfrm>
          <a:prstGeom prst="rect">
            <a:avLst/>
          </a:prstGeom>
          <a:noFill/>
          <a:ln/>
        </p:spPr>
        <p:txBody>
          <a:bodyPr wrap="square" rtlCol="0" anchor="ctr"/>
          <a:lstStyle/>
          <a:p>
            <a:pPr indent="0" marL="0">
              <a:buNone/>
            </a:pPr>
            <a:r>
              <a:rPr lang="en-US" sz="2400" b="1" dirty="0">
                <a:solidFill>
                  <a:srgbClr val="17211C"/>
                </a:solidFill>
                <a:latin typeface="Cambria" pitchFamily="34" charset="0"/>
                <a:ea typeface="Cambria" pitchFamily="34" charset="-122"/>
                <a:cs typeface="Cambria" pitchFamily="34" charset="-120"/>
              </a:rPr>
              <a:t>GREEN SKILLING, SUSTAINABILITY &amp; AI — THE FULL PICTURE</a:t>
            </a:r>
            <a:endParaRPr lang="en-US" sz="2400" dirty="0"/>
          </a:p>
        </p:txBody>
      </p:sp>
      <p:sp>
        <p:nvSpPr>
          <p:cNvPr id="3" name="Shape 1"/>
          <p:cNvSpPr/>
          <p:nvPr/>
        </p:nvSpPr>
        <p:spPr>
          <a:xfrm>
            <a:off x="548640" y="1188720"/>
            <a:ext cx="11064240" cy="1051560"/>
          </a:xfrm>
          <a:prstGeom prst="roundRect">
            <a:avLst>
              <a:gd name="adj" fmla="val 6087"/>
            </a:avLst>
          </a:prstGeom>
          <a:solidFill>
            <a:srgbClr val="EFFBF3"/>
          </a:solidFill>
          <a:ln/>
        </p:spPr>
      </p:sp>
      <p:sp>
        <p:nvSpPr>
          <p:cNvPr id="4" name="Shape 2"/>
          <p:cNvSpPr/>
          <p:nvPr/>
        </p:nvSpPr>
        <p:spPr>
          <a:xfrm>
            <a:off x="800100" y="1463040"/>
            <a:ext cx="502920" cy="502920"/>
          </a:xfrm>
          <a:prstGeom prst="ellipse">
            <a:avLst/>
          </a:prstGeom>
          <a:solidFill>
            <a:srgbClr val="00C853"/>
          </a:solidFill>
          <a:ln/>
          <a:effectLst>
            <a:outerShdw sx="100000" sy="100000" kx="0" ky="0" algn="bl" rotWithShape="0" blurRad="76200" dist="25400" dir="5400000">
              <a:srgbClr val="1B5E20">
                <a:alpha val="18000"/>
              </a:srgbClr>
            </a:outerShdw>
          </a:effectLst>
        </p:spPr>
      </p:sp>
      <p:pic>
        <p:nvPicPr>
          <p:cNvPr id="5" name="Image 0" descr="preencoded.png">    </p:cNvPr>
          <p:cNvPicPr>
            <a:picLocks noChangeAspect="1"/>
          </p:cNvPicPr>
          <p:nvPr/>
        </p:nvPicPr>
        <p:blipFill>
          <a:blip r:embed="rId1"/>
          <a:stretch>
            <a:fillRect/>
          </a:stretch>
        </p:blipFill>
        <p:spPr>
          <a:xfrm>
            <a:off x="913257" y="1576197"/>
            <a:ext cx="276606" cy="276606"/>
          </a:xfrm>
          <a:prstGeom prst="rect">
            <a:avLst/>
          </a:prstGeom>
        </p:spPr>
      </p:pic>
      <p:sp>
        <p:nvSpPr>
          <p:cNvPr id="6" name="Text 3"/>
          <p:cNvSpPr/>
          <p:nvPr/>
        </p:nvSpPr>
        <p:spPr>
          <a:xfrm>
            <a:off x="1417320" y="1298448"/>
            <a:ext cx="9966960" cy="822960"/>
          </a:xfrm>
          <a:prstGeom prst="rect">
            <a:avLst/>
          </a:prstGeom>
          <a:noFill/>
          <a:ln/>
        </p:spPr>
        <p:txBody>
          <a:bodyPr wrap="square" rtlCol="0" anchor="ctr"/>
          <a:lstStyle/>
          <a:p>
            <a:pPr indent="0" marL="0">
              <a:buNone/>
            </a:pPr>
            <a:r>
              <a:rPr lang="en-US" sz="1250" b="1" dirty="0">
                <a:solidFill>
                  <a:srgbClr val="0B6E4F"/>
                </a:solidFill>
                <a:latin typeface="Calibri" pitchFamily="34" charset="0"/>
                <a:ea typeface="Calibri" pitchFamily="34" charset="-122"/>
                <a:cs typeface="Calibri" pitchFamily="34" charset="-120"/>
              </a:rPr>
              <a:t>Green Skilling: </a:t>
            </a:r>
            <a:pPr indent="0" marL="0">
              <a:buNone/>
            </a:pPr>
            <a:r>
              <a:rPr lang="en-US" sz="1250" dirty="0">
                <a:solidFill>
                  <a:srgbClr val="2B332F"/>
                </a:solidFill>
                <a:latin typeface="Calibri" pitchFamily="34" charset="0"/>
                <a:ea typeface="Calibri" pitchFamily="34" charset="-122"/>
                <a:cs typeface="Calibri" pitchFamily="34" charset="-120"/>
              </a:rPr>
              <a:t>learning practical skills for eco-friendly jobs - solar installation, e-waste handling, energy auditing.  </a:t>
            </a:r>
            <a:pPr indent="0" marL="0">
              <a:buNone/>
            </a:pPr>
            <a:r>
              <a:rPr lang="en-US" sz="1250" b="1" dirty="0">
                <a:solidFill>
                  <a:srgbClr val="0B6E4F"/>
                </a:solidFill>
                <a:latin typeface="Calibri" pitchFamily="34" charset="0"/>
                <a:ea typeface="Calibri" pitchFamily="34" charset="-122"/>
                <a:cs typeface="Calibri" pitchFamily="34" charset="-120"/>
              </a:rPr>
              <a:t>Sustainability: </a:t>
            </a:r>
            <a:pPr indent="0" marL="0">
              <a:buNone/>
            </a:pPr>
            <a:r>
              <a:rPr lang="en-US" sz="1250" dirty="0">
                <a:solidFill>
                  <a:srgbClr val="2B332F"/>
                </a:solidFill>
                <a:latin typeface="Calibri" pitchFamily="34" charset="0"/>
                <a:ea typeface="Calibri" pitchFamily="34" charset="-122"/>
                <a:cs typeface="Calibri" pitchFamily="34" charset="-120"/>
              </a:rPr>
              <a:t>meeting today's needs without harming the planet's ability to meet future needs.</a:t>
            </a:r>
            <a:endParaRPr lang="en-US" sz="1250" dirty="0"/>
          </a:p>
        </p:txBody>
      </p:sp>
      <p:sp>
        <p:nvSpPr>
          <p:cNvPr id="7" name="Shape 4"/>
          <p:cNvSpPr/>
          <p:nvPr/>
        </p:nvSpPr>
        <p:spPr>
          <a:xfrm>
            <a:off x="548640" y="2514600"/>
            <a:ext cx="5349240" cy="3657600"/>
          </a:xfrm>
          <a:prstGeom prst="roundRect">
            <a:avLst>
              <a:gd name="adj" fmla="val 2000"/>
            </a:avLst>
          </a:prstGeom>
          <a:solidFill>
            <a:srgbClr val="EFFBF3"/>
          </a:solidFill>
          <a:ln w="12700">
            <a:solidFill>
              <a:srgbClr val="CDEBD8"/>
            </a:solidFill>
            <a:prstDash val="solid"/>
          </a:ln>
        </p:spPr>
      </p:sp>
      <p:sp>
        <p:nvSpPr>
          <p:cNvPr id="8" name="Shape 5"/>
          <p:cNvSpPr/>
          <p:nvPr/>
        </p:nvSpPr>
        <p:spPr>
          <a:xfrm>
            <a:off x="868680" y="2743200"/>
            <a:ext cx="548640" cy="548640"/>
          </a:xfrm>
          <a:prstGeom prst="ellipse">
            <a:avLst/>
          </a:prstGeom>
          <a:solidFill>
            <a:srgbClr val="00C853"/>
          </a:solidFill>
          <a:ln/>
          <a:effectLst>
            <a:outerShdw sx="100000" sy="100000" kx="0" ky="0" algn="bl" rotWithShape="0" blurRad="76200" dist="25400" dir="5400000">
              <a:srgbClr val="1B5E20">
                <a:alpha val="18000"/>
              </a:srgbClr>
            </a:outerShdw>
          </a:effectLst>
        </p:spPr>
      </p:sp>
      <p:pic>
        <p:nvPicPr>
          <p:cNvPr id="9" name="Image 1" descr="preencoded.png">    </p:cNvPr>
          <p:cNvPicPr>
            <a:picLocks noChangeAspect="1"/>
          </p:cNvPicPr>
          <p:nvPr/>
        </p:nvPicPr>
        <p:blipFill>
          <a:blip r:embed="rId2"/>
          <a:stretch>
            <a:fillRect/>
          </a:stretch>
        </p:blipFill>
        <p:spPr>
          <a:xfrm>
            <a:off x="992124" y="2866644"/>
            <a:ext cx="301752" cy="301752"/>
          </a:xfrm>
          <a:prstGeom prst="rect">
            <a:avLst/>
          </a:prstGeom>
        </p:spPr>
      </p:pic>
      <p:sp>
        <p:nvSpPr>
          <p:cNvPr id="10" name="Text 6"/>
          <p:cNvSpPr/>
          <p:nvPr/>
        </p:nvSpPr>
        <p:spPr>
          <a:xfrm>
            <a:off x="1554480" y="2770632"/>
            <a:ext cx="4114800" cy="457200"/>
          </a:xfrm>
          <a:prstGeom prst="rect">
            <a:avLst/>
          </a:prstGeom>
          <a:noFill/>
          <a:ln/>
        </p:spPr>
        <p:txBody>
          <a:bodyPr wrap="square" rtlCol="0" anchor="ctr"/>
          <a:lstStyle/>
          <a:p>
            <a:pPr indent="0" marL="0">
              <a:buNone/>
            </a:pPr>
            <a:r>
              <a:rPr lang="en-US" sz="1500" b="1" dirty="0">
                <a:solidFill>
                  <a:srgbClr val="0B6E4F"/>
                </a:solidFill>
                <a:latin typeface="Calibri" pitchFamily="34" charset="0"/>
                <a:ea typeface="Calibri" pitchFamily="34" charset="-122"/>
                <a:cs typeface="Calibri" pitchFamily="34" charset="-120"/>
              </a:rPr>
              <a:t>Where AI HELPS Sustainability</a:t>
            </a:r>
            <a:endParaRPr lang="en-US" sz="1500" dirty="0"/>
          </a:p>
        </p:txBody>
      </p:sp>
      <p:sp>
        <p:nvSpPr>
          <p:cNvPr id="11" name="Text 7"/>
          <p:cNvSpPr/>
          <p:nvPr/>
        </p:nvSpPr>
        <p:spPr>
          <a:xfrm>
            <a:off x="914400" y="3429000"/>
            <a:ext cx="4709160" cy="2560320"/>
          </a:xfrm>
          <a:prstGeom prst="rect">
            <a:avLst/>
          </a:prstGeom>
          <a:noFill/>
          <a:ln/>
        </p:spPr>
        <p:txBody>
          <a:bodyPr wrap="square" rtlCol="0" anchor="t"/>
          <a:lstStyle/>
          <a:p>
            <a:pPr marL="342900" indent="-342900">
              <a:spcAft>
                <a:spcPts val="800"/>
              </a:spcAft>
              <a:buSzPct val="100000"/>
              <a:buChar char="•"/>
            </a:pPr>
            <a:r>
              <a:rPr lang="en-US" sz="1200" dirty="0">
                <a:solidFill>
                  <a:srgbClr val="2B332F"/>
                </a:solidFill>
                <a:latin typeface="Calibri" pitchFamily="34" charset="0"/>
                <a:ea typeface="Calibri" pitchFamily="34" charset="-122"/>
                <a:cs typeface="Calibri" pitchFamily="34" charset="-120"/>
              </a:rPr>
              <a:t>Predicts weather &amp; crop patterns for farmers</a:t>
            </a:r>
            <a:endParaRPr lang="en-US" sz="1200" dirty="0"/>
          </a:p>
          <a:p>
            <a:pPr marL="342900" indent="-342900">
              <a:spcAft>
                <a:spcPts val="800"/>
              </a:spcAft>
              <a:buSzPct val="100000"/>
              <a:buChar char="•"/>
            </a:pPr>
            <a:r>
              <a:rPr lang="en-US" sz="1200" dirty="0">
                <a:solidFill>
                  <a:srgbClr val="2B332F"/>
                </a:solidFill>
                <a:latin typeface="Calibri" pitchFamily="34" charset="0"/>
                <a:ea typeface="Calibri" pitchFamily="34" charset="-122"/>
                <a:cs typeface="Calibri" pitchFamily="34" charset="-120"/>
              </a:rPr>
              <a:t>Optimises energy use in smart grids &amp; buildings</a:t>
            </a:r>
            <a:endParaRPr lang="en-US" sz="1200" dirty="0"/>
          </a:p>
          <a:p>
            <a:pPr marL="342900" indent="-342900">
              <a:spcAft>
                <a:spcPts val="800"/>
              </a:spcAft>
              <a:buSzPct val="100000"/>
              <a:buChar char="•"/>
            </a:pPr>
            <a:r>
              <a:rPr lang="en-US" sz="1200" dirty="0">
                <a:solidFill>
                  <a:srgbClr val="2B332F"/>
                </a:solidFill>
                <a:latin typeface="Calibri" pitchFamily="34" charset="0"/>
                <a:ea typeface="Calibri" pitchFamily="34" charset="-122"/>
                <a:cs typeface="Calibri" pitchFamily="34" charset="-120"/>
              </a:rPr>
              <a:t>Powers smart waste-sorting bins (like NANDO)</a:t>
            </a:r>
            <a:endParaRPr lang="en-US" sz="1200" dirty="0"/>
          </a:p>
          <a:p>
            <a:pPr marL="342900" indent="-342900">
              <a:spcAft>
                <a:spcPts val="800"/>
              </a:spcAft>
              <a:buSzPct val="100000"/>
              <a:buChar char="•"/>
            </a:pPr>
            <a:r>
              <a:rPr lang="en-US" sz="1200" dirty="0">
                <a:solidFill>
                  <a:srgbClr val="2B332F"/>
                </a:solidFill>
                <a:latin typeface="Calibri" pitchFamily="34" charset="0"/>
                <a:ea typeface="Calibri" pitchFamily="34" charset="-122"/>
                <a:cs typeface="Calibri" pitchFamily="34" charset="-120"/>
              </a:rPr>
              <a:t>Models climate futures (like MIT En-ROADS)</a:t>
            </a:r>
            <a:endParaRPr lang="en-US" sz="1200" dirty="0"/>
          </a:p>
          <a:p>
            <a:pPr marL="342900" indent="-342900">
              <a:spcAft>
                <a:spcPts val="800"/>
              </a:spcAft>
              <a:buSzPct val="100000"/>
              <a:buChar char="•"/>
            </a:pPr>
            <a:r>
              <a:rPr lang="en-US" sz="1200" dirty="0">
                <a:solidFill>
                  <a:srgbClr val="2B332F"/>
                </a:solidFill>
                <a:latin typeface="Calibri" pitchFamily="34" charset="0"/>
                <a:ea typeface="Calibri" pitchFamily="34" charset="-122"/>
                <a:cs typeface="Calibri" pitchFamily="34" charset="-120"/>
              </a:rPr>
              <a:t>Tracks deforestation &amp; wildlife via satellite images</a:t>
            </a:r>
            <a:endParaRPr lang="en-US" sz="1200" dirty="0"/>
          </a:p>
        </p:txBody>
      </p:sp>
      <p:sp>
        <p:nvSpPr>
          <p:cNvPr id="12" name="Shape 8"/>
          <p:cNvSpPr/>
          <p:nvPr/>
        </p:nvSpPr>
        <p:spPr>
          <a:xfrm>
            <a:off x="6263640" y="2514600"/>
            <a:ext cx="5349240" cy="3657600"/>
          </a:xfrm>
          <a:prstGeom prst="roundRect">
            <a:avLst>
              <a:gd name="adj" fmla="val 2000"/>
            </a:avLst>
          </a:prstGeom>
          <a:solidFill>
            <a:srgbClr val="FFF1EA"/>
          </a:solidFill>
          <a:ln w="12700">
            <a:solidFill>
              <a:srgbClr val="FBDCC5"/>
            </a:solidFill>
            <a:prstDash val="solid"/>
          </a:ln>
        </p:spPr>
      </p:sp>
      <p:sp>
        <p:nvSpPr>
          <p:cNvPr id="13" name="Shape 9"/>
          <p:cNvSpPr/>
          <p:nvPr/>
        </p:nvSpPr>
        <p:spPr>
          <a:xfrm>
            <a:off x="6583680" y="2743200"/>
            <a:ext cx="548640" cy="548640"/>
          </a:xfrm>
          <a:prstGeom prst="ellipse">
            <a:avLst/>
          </a:prstGeom>
          <a:solidFill>
            <a:srgbClr val="D32F2F"/>
          </a:solidFill>
          <a:ln/>
          <a:effectLst>
            <a:outerShdw sx="100000" sy="100000" kx="0" ky="0" algn="bl" rotWithShape="0" blurRad="76200" dist="25400" dir="5400000">
              <a:srgbClr val="1B5E20">
                <a:alpha val="18000"/>
              </a:srgbClr>
            </a:outerShdw>
          </a:effectLst>
        </p:spPr>
      </p:sp>
      <p:pic>
        <p:nvPicPr>
          <p:cNvPr id="14" name="Image 2" descr="preencoded.png">    </p:cNvPr>
          <p:cNvPicPr>
            <a:picLocks noChangeAspect="1"/>
          </p:cNvPicPr>
          <p:nvPr/>
        </p:nvPicPr>
        <p:blipFill>
          <a:blip r:embed="rId3"/>
          <a:stretch>
            <a:fillRect/>
          </a:stretch>
        </p:blipFill>
        <p:spPr>
          <a:xfrm>
            <a:off x="6707124" y="2866644"/>
            <a:ext cx="301752" cy="301752"/>
          </a:xfrm>
          <a:prstGeom prst="rect">
            <a:avLst/>
          </a:prstGeom>
        </p:spPr>
      </p:pic>
      <p:sp>
        <p:nvSpPr>
          <p:cNvPr id="15" name="Text 10"/>
          <p:cNvSpPr/>
          <p:nvPr/>
        </p:nvSpPr>
        <p:spPr>
          <a:xfrm>
            <a:off x="7269480" y="2770632"/>
            <a:ext cx="4114800" cy="457200"/>
          </a:xfrm>
          <a:prstGeom prst="rect">
            <a:avLst/>
          </a:prstGeom>
          <a:noFill/>
          <a:ln/>
        </p:spPr>
        <p:txBody>
          <a:bodyPr wrap="square" rtlCol="0" anchor="ctr"/>
          <a:lstStyle/>
          <a:p>
            <a:pPr indent="0" marL="0">
              <a:buNone/>
            </a:pPr>
            <a:r>
              <a:rPr lang="en-US" sz="1500" b="1" dirty="0">
                <a:solidFill>
                  <a:srgbClr val="D32F2F"/>
                </a:solidFill>
                <a:latin typeface="Calibri" pitchFamily="34" charset="0"/>
                <a:ea typeface="Calibri" pitchFamily="34" charset="-122"/>
                <a:cs typeface="Calibri" pitchFamily="34" charset="-120"/>
              </a:rPr>
              <a:t>Where AI HURTS Sustainability</a:t>
            </a:r>
            <a:endParaRPr lang="en-US" sz="1500" dirty="0"/>
          </a:p>
        </p:txBody>
      </p:sp>
      <p:sp>
        <p:nvSpPr>
          <p:cNvPr id="16" name="Text 11"/>
          <p:cNvSpPr/>
          <p:nvPr/>
        </p:nvSpPr>
        <p:spPr>
          <a:xfrm>
            <a:off x="6629400" y="3429000"/>
            <a:ext cx="4709160" cy="2560320"/>
          </a:xfrm>
          <a:prstGeom prst="rect">
            <a:avLst/>
          </a:prstGeom>
          <a:noFill/>
          <a:ln/>
        </p:spPr>
        <p:txBody>
          <a:bodyPr wrap="square" rtlCol="0" anchor="t"/>
          <a:lstStyle/>
          <a:p>
            <a:pPr marL="342900" indent="-342900">
              <a:spcAft>
                <a:spcPts val="800"/>
              </a:spcAft>
              <a:buSzPct val="100000"/>
              <a:buChar char="•"/>
            </a:pPr>
            <a:r>
              <a:rPr lang="en-US" sz="1200" dirty="0">
                <a:solidFill>
                  <a:srgbClr val="2B332F"/>
                </a:solidFill>
                <a:latin typeface="Calibri" pitchFamily="34" charset="0"/>
                <a:ea typeface="Calibri" pitchFamily="34" charset="-122"/>
                <a:cs typeface="Calibri" pitchFamily="34" charset="-120"/>
              </a:rPr>
              <a:t>Training large AI models uses huge electricity &amp; water</a:t>
            </a:r>
            <a:endParaRPr lang="en-US" sz="1200" dirty="0"/>
          </a:p>
          <a:p>
            <a:pPr marL="342900" indent="-342900">
              <a:spcAft>
                <a:spcPts val="800"/>
              </a:spcAft>
              <a:buSzPct val="100000"/>
              <a:buChar char="•"/>
            </a:pPr>
            <a:r>
              <a:rPr lang="en-US" sz="1200" dirty="0">
                <a:solidFill>
                  <a:srgbClr val="2B332F"/>
                </a:solidFill>
                <a:latin typeface="Calibri" pitchFamily="34" charset="0"/>
                <a:ea typeface="Calibri" pitchFamily="34" charset="-122"/>
                <a:cs typeface="Calibri" pitchFamily="34" charset="-120"/>
              </a:rPr>
              <a:t>Data centres run 24/7, adding to carbon emissions</a:t>
            </a:r>
            <a:endParaRPr lang="en-US" sz="1200" dirty="0"/>
          </a:p>
          <a:p>
            <a:pPr marL="342900" indent="-342900">
              <a:spcAft>
                <a:spcPts val="800"/>
              </a:spcAft>
              <a:buSzPct val="100000"/>
              <a:buChar char="•"/>
            </a:pPr>
            <a:r>
              <a:rPr lang="en-US" sz="1200" dirty="0">
                <a:solidFill>
                  <a:srgbClr val="2B332F"/>
                </a:solidFill>
                <a:latin typeface="Calibri" pitchFamily="34" charset="0"/>
                <a:ea typeface="Calibri" pitchFamily="34" charset="-122"/>
                <a:cs typeface="Calibri" pitchFamily="34" charset="-120"/>
              </a:rPr>
              <a:t>Constant hardware upgrades create e-waste</a:t>
            </a:r>
            <a:endParaRPr lang="en-US" sz="1200" dirty="0"/>
          </a:p>
          <a:p>
            <a:pPr marL="342900" indent="-342900">
              <a:spcAft>
                <a:spcPts val="800"/>
              </a:spcAft>
              <a:buSzPct val="100000"/>
              <a:buChar char="•"/>
            </a:pPr>
            <a:r>
              <a:rPr lang="en-US" sz="1200" dirty="0">
                <a:solidFill>
                  <a:srgbClr val="2B332F"/>
                </a:solidFill>
                <a:latin typeface="Calibri" pitchFamily="34" charset="0"/>
                <a:ea typeface="Calibri" pitchFamily="34" charset="-122"/>
                <a:cs typeface="Calibri" pitchFamily="34" charset="-120"/>
              </a:rPr>
              <a:t>Cooling systems strain local water supplies</a:t>
            </a:r>
            <a:endParaRPr lang="en-US" sz="1200" dirty="0"/>
          </a:p>
          <a:p>
            <a:pPr marL="342900" indent="-342900">
              <a:spcAft>
                <a:spcPts val="800"/>
              </a:spcAft>
              <a:buSzPct val="100000"/>
              <a:buChar char="•"/>
            </a:pPr>
            <a:r>
              <a:rPr lang="en-US" sz="1200" dirty="0">
                <a:solidFill>
                  <a:srgbClr val="2B332F"/>
                </a:solidFill>
                <a:latin typeface="Calibri" pitchFamily="34" charset="0"/>
                <a:ea typeface="Calibri" pitchFamily="34" charset="-122"/>
                <a:cs typeface="Calibri" pitchFamily="34" charset="-120"/>
              </a:rPr>
              <a:t>Rising energy demand can outpace green-energy supply</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11064240" cy="548640"/>
          </a:xfrm>
          <a:prstGeom prst="rect">
            <a:avLst/>
          </a:prstGeom>
          <a:noFill/>
          <a:ln/>
        </p:spPr>
        <p:txBody>
          <a:bodyPr wrap="square" rtlCol="0" anchor="ctr"/>
          <a:lstStyle/>
          <a:p>
            <a:pPr indent="0" marL="0">
              <a:buNone/>
            </a:pPr>
            <a:r>
              <a:rPr lang="en-US" sz="2600" b="1" dirty="0">
                <a:solidFill>
                  <a:srgbClr val="17211C"/>
                </a:solidFill>
                <a:latin typeface="Cambria" pitchFamily="34" charset="0"/>
                <a:ea typeface="Cambria" pitchFamily="34" charset="-122"/>
                <a:cs typeface="Cambria" pitchFamily="34" charset="-120"/>
              </a:rPr>
              <a:t>CAPSTONE PROJECT</a:t>
            </a:r>
            <a:endParaRPr lang="en-US" sz="2600" dirty="0"/>
          </a:p>
        </p:txBody>
      </p:sp>
      <p:sp>
        <p:nvSpPr>
          <p:cNvPr id="3" name="Shape 1"/>
          <p:cNvSpPr/>
          <p:nvPr/>
        </p:nvSpPr>
        <p:spPr>
          <a:xfrm>
            <a:off x="548640" y="1051560"/>
            <a:ext cx="11064240" cy="1051560"/>
          </a:xfrm>
          <a:prstGeom prst="roundRect">
            <a:avLst>
              <a:gd name="adj" fmla="val 6957"/>
            </a:avLst>
          </a:prstGeom>
          <a:solidFill>
            <a:srgbClr val="EFFBF3"/>
          </a:solidFill>
          <a:ln/>
        </p:spPr>
      </p:sp>
      <p:sp>
        <p:nvSpPr>
          <p:cNvPr id="4" name="Shape 2"/>
          <p:cNvSpPr/>
          <p:nvPr/>
        </p:nvSpPr>
        <p:spPr>
          <a:xfrm>
            <a:off x="845820" y="1275588"/>
            <a:ext cx="594360" cy="594360"/>
          </a:xfrm>
          <a:prstGeom prst="ellipse">
            <a:avLst/>
          </a:prstGeom>
          <a:solidFill>
            <a:srgbClr val="00C853"/>
          </a:solidFill>
          <a:ln/>
          <a:effectLst>
            <a:outerShdw sx="100000" sy="100000" kx="0" ky="0" algn="bl" rotWithShape="0" blurRad="76200" dist="25400" dir="5400000">
              <a:srgbClr val="1B5E20">
                <a:alpha val="18000"/>
              </a:srgbClr>
            </a:outerShdw>
          </a:effectLst>
        </p:spPr>
      </p:sp>
      <p:pic>
        <p:nvPicPr>
          <p:cNvPr id="5" name="Image 0" descr="preencoded.png">    </p:cNvPr>
          <p:cNvPicPr>
            <a:picLocks noChangeAspect="1"/>
          </p:cNvPicPr>
          <p:nvPr/>
        </p:nvPicPr>
        <p:blipFill>
          <a:blip r:embed="rId1"/>
          <a:stretch>
            <a:fillRect/>
          </a:stretch>
        </p:blipFill>
        <p:spPr>
          <a:xfrm>
            <a:off x="979551" y="1409319"/>
            <a:ext cx="326898" cy="326898"/>
          </a:xfrm>
          <a:prstGeom prst="rect">
            <a:avLst/>
          </a:prstGeom>
        </p:spPr>
      </p:pic>
      <p:sp>
        <p:nvSpPr>
          <p:cNvPr id="6" name="Text 3"/>
          <p:cNvSpPr/>
          <p:nvPr/>
        </p:nvSpPr>
        <p:spPr>
          <a:xfrm>
            <a:off x="1600200" y="1170432"/>
            <a:ext cx="9784080" cy="457200"/>
          </a:xfrm>
          <a:prstGeom prst="rect">
            <a:avLst/>
          </a:prstGeom>
          <a:noFill/>
          <a:ln/>
        </p:spPr>
        <p:txBody>
          <a:bodyPr wrap="square" rtlCol="0" anchor="ctr"/>
          <a:lstStyle/>
          <a:p>
            <a:pPr indent="0" marL="0">
              <a:buNone/>
            </a:pPr>
            <a:r>
              <a:rPr lang="en-US" sz="1900" b="1" dirty="0">
                <a:solidFill>
                  <a:srgbClr val="0B6E4F"/>
                </a:solidFill>
                <a:latin typeface="Cambria" pitchFamily="34" charset="0"/>
                <a:ea typeface="Cambria" pitchFamily="34" charset="-122"/>
                <a:cs typeface="Cambria" pitchFamily="34" charset="-120"/>
              </a:rPr>
              <a:t>GreenSetu — AI Sustainability &amp; Green-Skills Advisor</a:t>
            </a:r>
            <a:endParaRPr lang="en-US" sz="1900" dirty="0"/>
          </a:p>
        </p:txBody>
      </p:sp>
      <p:sp>
        <p:nvSpPr>
          <p:cNvPr id="7" name="Text 4"/>
          <p:cNvSpPr/>
          <p:nvPr/>
        </p:nvSpPr>
        <p:spPr>
          <a:xfrm>
            <a:off x="1600200" y="1572768"/>
            <a:ext cx="9784080" cy="457200"/>
          </a:xfrm>
          <a:prstGeom prst="rect">
            <a:avLst/>
          </a:prstGeom>
          <a:noFill/>
          <a:ln/>
        </p:spPr>
        <p:txBody>
          <a:bodyPr wrap="square" rtlCol="0" anchor="ctr"/>
          <a:lstStyle/>
          <a:p>
            <a:pPr indent="0" marL="0">
              <a:buNone/>
            </a:pPr>
            <a:r>
              <a:rPr lang="en-US" sz="1200" i="1" dirty="0">
                <a:solidFill>
                  <a:srgbClr val="2B332F"/>
                </a:solidFill>
                <a:latin typeface="Calibri" pitchFamily="34" charset="0"/>
                <a:ea typeface="Calibri" pitchFamily="34" charset="-122"/>
                <a:cs typeface="Calibri" pitchFamily="34" charset="-120"/>
              </a:rPr>
              <a:t>"Setu" means bridge — this project bridges everyday personal habits with global climate goals (SDG 17).</a:t>
            </a:r>
            <a:endParaRPr lang="en-US" sz="1200" dirty="0"/>
          </a:p>
        </p:txBody>
      </p:sp>
      <p:sp>
        <p:nvSpPr>
          <p:cNvPr id="8" name="Text 5"/>
          <p:cNvSpPr/>
          <p:nvPr/>
        </p:nvSpPr>
        <p:spPr>
          <a:xfrm>
            <a:off x="548640" y="2286000"/>
            <a:ext cx="11064240" cy="685800"/>
          </a:xfrm>
          <a:prstGeom prst="rect">
            <a:avLst/>
          </a:prstGeom>
          <a:noFill/>
          <a:ln/>
        </p:spPr>
        <p:txBody>
          <a:bodyPr wrap="square" rtlCol="0" anchor="ctr"/>
          <a:lstStyle/>
          <a:p>
            <a:pPr indent="0" marL="0">
              <a:buNone/>
            </a:pPr>
            <a:r>
              <a:rPr lang="en-US" sz="1250" dirty="0">
                <a:solidFill>
                  <a:srgbClr val="5C6B64"/>
                </a:solidFill>
                <a:latin typeface="Calibri" pitchFamily="34" charset="0"/>
                <a:ea typeface="Calibri" pitchFamily="34" charset="-122"/>
                <a:cs typeface="Calibri" pitchFamily="34" charset="-120"/>
              </a:rPr>
              <a:t>In simple words: it is a small Python program that asks a few easy questions about your daily routine, tells you your rough carbon footprint (like the calculators explored above), and then suggests one real green-skill course you could learn — all in plain language.</a:t>
            </a:r>
            <a:endParaRPr lang="en-US" sz="1250" dirty="0"/>
          </a:p>
        </p:txBody>
      </p:sp>
      <p:sp>
        <p:nvSpPr>
          <p:cNvPr id="9" name="Shape 6"/>
          <p:cNvSpPr/>
          <p:nvPr/>
        </p:nvSpPr>
        <p:spPr>
          <a:xfrm>
            <a:off x="548640" y="3200400"/>
            <a:ext cx="2606040" cy="2286000"/>
          </a:xfrm>
          <a:prstGeom prst="roundRect">
            <a:avLst>
              <a:gd name="adj" fmla="val 3200"/>
            </a:avLst>
          </a:prstGeom>
          <a:solidFill>
            <a:srgbClr val="EFFBF3"/>
          </a:solidFill>
          <a:ln/>
          <a:effectLst>
            <a:outerShdw sx="100000" sy="100000" kx="0" ky="0" algn="bl" rotWithShape="0" blurRad="63500" dist="25400" dir="2700000">
              <a:srgbClr val="000000">
                <a:alpha val="10000"/>
              </a:srgbClr>
            </a:outerShdw>
          </a:effectLst>
        </p:spPr>
      </p:sp>
      <p:sp>
        <p:nvSpPr>
          <p:cNvPr id="10" name="Shape 7"/>
          <p:cNvSpPr/>
          <p:nvPr/>
        </p:nvSpPr>
        <p:spPr>
          <a:xfrm>
            <a:off x="1568196" y="3374136"/>
            <a:ext cx="566928" cy="566928"/>
          </a:xfrm>
          <a:prstGeom prst="ellipse">
            <a:avLst/>
          </a:prstGeom>
          <a:solidFill>
            <a:srgbClr val="00C853"/>
          </a:solidFill>
          <a:ln/>
          <a:effectLst>
            <a:outerShdw sx="100000" sy="100000" kx="0" ky="0" algn="bl" rotWithShape="0" blurRad="76200" dist="25400" dir="5400000">
              <a:srgbClr val="1B5E20">
                <a:alpha val="18000"/>
              </a:srgbClr>
            </a:outerShdw>
          </a:effectLst>
        </p:spPr>
      </p:sp>
      <p:pic>
        <p:nvPicPr>
          <p:cNvPr id="11" name="Image 1" descr="preencoded.png">    </p:cNvPr>
          <p:cNvPicPr>
            <a:picLocks noChangeAspect="1"/>
          </p:cNvPicPr>
          <p:nvPr/>
        </p:nvPicPr>
        <p:blipFill>
          <a:blip r:embed="rId2"/>
          <a:stretch>
            <a:fillRect/>
          </a:stretch>
        </p:blipFill>
        <p:spPr>
          <a:xfrm>
            <a:off x="1695755" y="3501695"/>
            <a:ext cx="311810" cy="311810"/>
          </a:xfrm>
          <a:prstGeom prst="rect">
            <a:avLst/>
          </a:prstGeom>
        </p:spPr>
      </p:pic>
      <p:sp>
        <p:nvSpPr>
          <p:cNvPr id="12" name="Text 8"/>
          <p:cNvSpPr/>
          <p:nvPr/>
        </p:nvSpPr>
        <p:spPr>
          <a:xfrm>
            <a:off x="731520" y="4069080"/>
            <a:ext cx="2240280" cy="365760"/>
          </a:xfrm>
          <a:prstGeom prst="rect">
            <a:avLst/>
          </a:prstGeom>
          <a:noFill/>
          <a:ln/>
        </p:spPr>
        <p:txBody>
          <a:bodyPr wrap="square" rtlCol="0" anchor="ctr"/>
          <a:lstStyle/>
          <a:p>
            <a:pPr algn="ctr" indent="0" marL="0">
              <a:buNone/>
            </a:pPr>
            <a:r>
              <a:rPr lang="en-US" sz="1300" b="1" dirty="0">
                <a:solidFill>
                  <a:srgbClr val="0B6E4F"/>
                </a:solidFill>
                <a:latin typeface="Calibri" pitchFamily="34" charset="0"/>
                <a:ea typeface="Calibri" pitchFamily="34" charset="-122"/>
                <a:cs typeface="Calibri" pitchFamily="34" charset="-120"/>
              </a:rPr>
              <a:t>1. Ask</a:t>
            </a:r>
            <a:endParaRPr lang="en-US" sz="1300" dirty="0"/>
          </a:p>
        </p:txBody>
      </p:sp>
      <p:sp>
        <p:nvSpPr>
          <p:cNvPr id="13" name="Text 9"/>
          <p:cNvSpPr/>
          <p:nvPr/>
        </p:nvSpPr>
        <p:spPr>
          <a:xfrm>
            <a:off x="749808" y="4434840"/>
            <a:ext cx="2203704" cy="960120"/>
          </a:xfrm>
          <a:prstGeom prst="rect">
            <a:avLst/>
          </a:prstGeom>
          <a:noFill/>
          <a:ln/>
        </p:spPr>
        <p:txBody>
          <a:bodyPr wrap="square" rtlCol="0" anchor="t"/>
          <a:lstStyle/>
          <a:p>
            <a:pPr algn="ctr" indent="0" marL="0">
              <a:buNone/>
            </a:pPr>
            <a:r>
              <a:rPr lang="en-US" sz="1000" dirty="0">
                <a:solidFill>
                  <a:srgbClr val="2B332F"/>
                </a:solidFill>
                <a:latin typeface="Calibri" pitchFamily="34" charset="0"/>
                <a:ea typeface="Calibri" pitchFamily="34" charset="-122"/>
                <a:cs typeface="Calibri" pitchFamily="34" charset="-120"/>
              </a:rPr>
              <a:t>Takes simple inputs: daily travel distance, electricity bill units, and diet type - no technical terms.</a:t>
            </a:r>
            <a:endParaRPr lang="en-US" sz="1000" dirty="0"/>
          </a:p>
        </p:txBody>
      </p:sp>
      <p:sp>
        <p:nvSpPr>
          <p:cNvPr id="14" name="Shape 10"/>
          <p:cNvSpPr/>
          <p:nvPr/>
        </p:nvSpPr>
        <p:spPr>
          <a:xfrm>
            <a:off x="3401568" y="3200400"/>
            <a:ext cx="2606040" cy="2286000"/>
          </a:xfrm>
          <a:prstGeom prst="roundRect">
            <a:avLst>
              <a:gd name="adj" fmla="val 3200"/>
            </a:avLst>
          </a:prstGeom>
          <a:solidFill>
            <a:srgbClr val="EFFBF3"/>
          </a:solidFill>
          <a:ln/>
          <a:effectLst>
            <a:outerShdw sx="100000" sy="100000" kx="0" ky="0" algn="bl" rotWithShape="0" blurRad="63500" dist="25400" dir="2700000">
              <a:srgbClr val="000000">
                <a:alpha val="10000"/>
              </a:srgbClr>
            </a:outerShdw>
          </a:effectLst>
        </p:spPr>
      </p:sp>
      <p:sp>
        <p:nvSpPr>
          <p:cNvPr id="15" name="Shape 11"/>
          <p:cNvSpPr/>
          <p:nvPr/>
        </p:nvSpPr>
        <p:spPr>
          <a:xfrm>
            <a:off x="4421124" y="3374136"/>
            <a:ext cx="566928" cy="566928"/>
          </a:xfrm>
          <a:prstGeom prst="ellipse">
            <a:avLst/>
          </a:prstGeom>
          <a:solidFill>
            <a:srgbClr val="FF6D00"/>
          </a:solidFill>
          <a:ln/>
          <a:effectLst>
            <a:outerShdw sx="100000" sy="100000" kx="0" ky="0" algn="bl" rotWithShape="0" blurRad="76200" dist="25400" dir="5400000">
              <a:srgbClr val="1B5E20">
                <a:alpha val="18000"/>
              </a:srgbClr>
            </a:outerShdw>
          </a:effectLst>
        </p:spPr>
      </p:sp>
      <p:pic>
        <p:nvPicPr>
          <p:cNvPr id="16" name="Image 2" descr="preencoded.png">    </p:cNvPr>
          <p:cNvPicPr>
            <a:picLocks noChangeAspect="1"/>
          </p:cNvPicPr>
          <p:nvPr/>
        </p:nvPicPr>
        <p:blipFill>
          <a:blip r:embed="rId3"/>
          <a:stretch>
            <a:fillRect/>
          </a:stretch>
        </p:blipFill>
        <p:spPr>
          <a:xfrm>
            <a:off x="4548683" y="3501695"/>
            <a:ext cx="311810" cy="311810"/>
          </a:xfrm>
          <a:prstGeom prst="rect">
            <a:avLst/>
          </a:prstGeom>
        </p:spPr>
      </p:pic>
      <p:sp>
        <p:nvSpPr>
          <p:cNvPr id="17" name="Text 12"/>
          <p:cNvSpPr/>
          <p:nvPr/>
        </p:nvSpPr>
        <p:spPr>
          <a:xfrm>
            <a:off x="3584448" y="4069080"/>
            <a:ext cx="2240280" cy="365760"/>
          </a:xfrm>
          <a:prstGeom prst="rect">
            <a:avLst/>
          </a:prstGeom>
          <a:noFill/>
          <a:ln/>
        </p:spPr>
        <p:txBody>
          <a:bodyPr wrap="square" rtlCol="0" anchor="ctr"/>
          <a:lstStyle/>
          <a:p>
            <a:pPr algn="ctr" indent="0" marL="0">
              <a:buNone/>
            </a:pPr>
            <a:r>
              <a:rPr lang="en-US" sz="1300" b="1" dirty="0">
                <a:solidFill>
                  <a:srgbClr val="0B6E4F"/>
                </a:solidFill>
                <a:latin typeface="Calibri" pitchFamily="34" charset="0"/>
                <a:ea typeface="Calibri" pitchFamily="34" charset="-122"/>
                <a:cs typeface="Calibri" pitchFamily="34" charset="-120"/>
              </a:rPr>
              <a:t>2. Calculate</a:t>
            </a:r>
            <a:endParaRPr lang="en-US" sz="1300" dirty="0"/>
          </a:p>
        </p:txBody>
      </p:sp>
      <p:sp>
        <p:nvSpPr>
          <p:cNvPr id="18" name="Text 13"/>
          <p:cNvSpPr/>
          <p:nvPr/>
        </p:nvSpPr>
        <p:spPr>
          <a:xfrm>
            <a:off x="3602736" y="4434840"/>
            <a:ext cx="2203704" cy="960120"/>
          </a:xfrm>
          <a:prstGeom prst="rect">
            <a:avLst/>
          </a:prstGeom>
          <a:noFill/>
          <a:ln/>
        </p:spPr>
        <p:txBody>
          <a:bodyPr wrap="square" rtlCol="0" anchor="t"/>
          <a:lstStyle/>
          <a:p>
            <a:pPr algn="ctr" indent="0" marL="0">
              <a:buNone/>
            </a:pPr>
            <a:r>
              <a:rPr lang="en-US" sz="1000" dirty="0">
                <a:solidFill>
                  <a:srgbClr val="2B332F"/>
                </a:solidFill>
                <a:latin typeface="Calibri" pitchFamily="34" charset="0"/>
                <a:ea typeface="Calibri" pitchFamily="34" charset="-122"/>
                <a:cs typeface="Calibri" pitchFamily="34" charset="-120"/>
              </a:rPr>
              <a:t>Uses easy formulas (same idea as the footprint &amp; e-AMRIT calculators) to estimate monthly CO2 in kilograms.</a:t>
            </a:r>
            <a:endParaRPr lang="en-US" sz="1000" dirty="0"/>
          </a:p>
        </p:txBody>
      </p:sp>
      <p:sp>
        <p:nvSpPr>
          <p:cNvPr id="19" name="Shape 14"/>
          <p:cNvSpPr/>
          <p:nvPr/>
        </p:nvSpPr>
        <p:spPr>
          <a:xfrm>
            <a:off x="6254496" y="3200400"/>
            <a:ext cx="2606040" cy="2286000"/>
          </a:xfrm>
          <a:prstGeom prst="roundRect">
            <a:avLst>
              <a:gd name="adj" fmla="val 3200"/>
            </a:avLst>
          </a:prstGeom>
          <a:solidFill>
            <a:srgbClr val="EFFBF3"/>
          </a:solidFill>
          <a:ln/>
          <a:effectLst>
            <a:outerShdw sx="100000" sy="100000" kx="0" ky="0" algn="bl" rotWithShape="0" blurRad="63500" dist="25400" dir="2700000">
              <a:srgbClr val="000000">
                <a:alpha val="10000"/>
              </a:srgbClr>
            </a:outerShdw>
          </a:effectLst>
        </p:spPr>
      </p:sp>
      <p:sp>
        <p:nvSpPr>
          <p:cNvPr id="20" name="Shape 15"/>
          <p:cNvSpPr/>
          <p:nvPr/>
        </p:nvSpPr>
        <p:spPr>
          <a:xfrm>
            <a:off x="7274052" y="3374136"/>
            <a:ext cx="566928" cy="566928"/>
          </a:xfrm>
          <a:prstGeom prst="ellipse">
            <a:avLst/>
          </a:prstGeom>
          <a:solidFill>
            <a:srgbClr val="00C853"/>
          </a:solidFill>
          <a:ln/>
          <a:effectLst>
            <a:outerShdw sx="100000" sy="100000" kx="0" ky="0" algn="bl" rotWithShape="0" blurRad="76200" dist="25400" dir="5400000">
              <a:srgbClr val="1B5E20">
                <a:alpha val="18000"/>
              </a:srgbClr>
            </a:outerShdw>
          </a:effectLst>
        </p:spPr>
      </p:sp>
      <p:pic>
        <p:nvPicPr>
          <p:cNvPr id="21" name="Image 3" descr="preencoded.png">    </p:cNvPr>
          <p:cNvPicPr>
            <a:picLocks noChangeAspect="1"/>
          </p:cNvPicPr>
          <p:nvPr/>
        </p:nvPicPr>
        <p:blipFill>
          <a:blip r:embed="rId4"/>
          <a:stretch>
            <a:fillRect/>
          </a:stretch>
        </p:blipFill>
        <p:spPr>
          <a:xfrm>
            <a:off x="7401611" y="3501695"/>
            <a:ext cx="311810" cy="311810"/>
          </a:xfrm>
          <a:prstGeom prst="rect">
            <a:avLst/>
          </a:prstGeom>
        </p:spPr>
      </p:pic>
      <p:sp>
        <p:nvSpPr>
          <p:cNvPr id="22" name="Text 16"/>
          <p:cNvSpPr/>
          <p:nvPr/>
        </p:nvSpPr>
        <p:spPr>
          <a:xfrm>
            <a:off x="6437376" y="4069080"/>
            <a:ext cx="2240280" cy="365760"/>
          </a:xfrm>
          <a:prstGeom prst="rect">
            <a:avLst/>
          </a:prstGeom>
          <a:noFill/>
          <a:ln/>
        </p:spPr>
        <p:txBody>
          <a:bodyPr wrap="square" rtlCol="0" anchor="ctr"/>
          <a:lstStyle/>
          <a:p>
            <a:pPr algn="ctr" indent="0" marL="0">
              <a:buNone/>
            </a:pPr>
            <a:r>
              <a:rPr lang="en-US" sz="1300" b="1" dirty="0">
                <a:solidFill>
                  <a:srgbClr val="0B6E4F"/>
                </a:solidFill>
                <a:latin typeface="Calibri" pitchFamily="34" charset="0"/>
                <a:ea typeface="Calibri" pitchFamily="34" charset="-122"/>
                <a:cs typeface="Calibri" pitchFamily="34" charset="-120"/>
              </a:rPr>
              <a:t>3. Judge</a:t>
            </a:r>
            <a:endParaRPr lang="en-US" sz="1300" dirty="0"/>
          </a:p>
        </p:txBody>
      </p:sp>
      <p:sp>
        <p:nvSpPr>
          <p:cNvPr id="23" name="Text 17"/>
          <p:cNvSpPr/>
          <p:nvPr/>
        </p:nvSpPr>
        <p:spPr>
          <a:xfrm>
            <a:off x="6455664" y="4434840"/>
            <a:ext cx="2203704" cy="960120"/>
          </a:xfrm>
          <a:prstGeom prst="rect">
            <a:avLst/>
          </a:prstGeom>
          <a:noFill/>
          <a:ln/>
        </p:spPr>
        <p:txBody>
          <a:bodyPr wrap="square" rtlCol="0" anchor="t"/>
          <a:lstStyle/>
          <a:p>
            <a:pPr algn="ctr" indent="0" marL="0">
              <a:buNone/>
            </a:pPr>
            <a:r>
              <a:rPr lang="en-US" sz="1000" dirty="0">
                <a:solidFill>
                  <a:srgbClr val="2B332F"/>
                </a:solidFill>
                <a:latin typeface="Calibri" pitchFamily="34" charset="0"/>
                <a:ea typeface="Calibri" pitchFamily="34" charset="-122"/>
                <a:cs typeface="Calibri" pitchFamily="34" charset="-120"/>
              </a:rPr>
              <a:t>Compares the result with the national average and shows if the footprint is Low, Medium, or High.</a:t>
            </a:r>
            <a:endParaRPr lang="en-US" sz="1000" dirty="0"/>
          </a:p>
        </p:txBody>
      </p:sp>
      <p:sp>
        <p:nvSpPr>
          <p:cNvPr id="24" name="Shape 18"/>
          <p:cNvSpPr/>
          <p:nvPr/>
        </p:nvSpPr>
        <p:spPr>
          <a:xfrm>
            <a:off x="9107424" y="3200400"/>
            <a:ext cx="2606040" cy="2286000"/>
          </a:xfrm>
          <a:prstGeom prst="roundRect">
            <a:avLst>
              <a:gd name="adj" fmla="val 3200"/>
            </a:avLst>
          </a:prstGeom>
          <a:solidFill>
            <a:srgbClr val="EFFBF3"/>
          </a:solidFill>
          <a:ln/>
          <a:effectLst>
            <a:outerShdw sx="100000" sy="100000" kx="0" ky="0" algn="bl" rotWithShape="0" blurRad="63500" dist="25400" dir="2700000">
              <a:srgbClr val="000000">
                <a:alpha val="10000"/>
              </a:srgbClr>
            </a:outerShdw>
          </a:effectLst>
        </p:spPr>
      </p:sp>
      <p:sp>
        <p:nvSpPr>
          <p:cNvPr id="25" name="Shape 19"/>
          <p:cNvSpPr/>
          <p:nvPr/>
        </p:nvSpPr>
        <p:spPr>
          <a:xfrm>
            <a:off x="10126980" y="3374136"/>
            <a:ext cx="566928" cy="566928"/>
          </a:xfrm>
          <a:prstGeom prst="ellipse">
            <a:avLst/>
          </a:prstGeom>
          <a:solidFill>
            <a:srgbClr val="FF6D00"/>
          </a:solidFill>
          <a:ln/>
          <a:effectLst>
            <a:outerShdw sx="100000" sy="100000" kx="0" ky="0" algn="bl" rotWithShape="0" blurRad="76200" dist="25400" dir="5400000">
              <a:srgbClr val="1B5E20">
                <a:alpha val="18000"/>
              </a:srgbClr>
            </a:outerShdw>
          </a:effectLst>
        </p:spPr>
      </p:sp>
      <p:pic>
        <p:nvPicPr>
          <p:cNvPr id="26" name="Image 4" descr="preencoded.png">    </p:cNvPr>
          <p:cNvPicPr>
            <a:picLocks noChangeAspect="1"/>
          </p:cNvPicPr>
          <p:nvPr/>
        </p:nvPicPr>
        <p:blipFill>
          <a:blip r:embed="rId5"/>
          <a:stretch>
            <a:fillRect/>
          </a:stretch>
        </p:blipFill>
        <p:spPr>
          <a:xfrm>
            <a:off x="10254539" y="3501695"/>
            <a:ext cx="311810" cy="311810"/>
          </a:xfrm>
          <a:prstGeom prst="rect">
            <a:avLst/>
          </a:prstGeom>
        </p:spPr>
      </p:pic>
      <p:sp>
        <p:nvSpPr>
          <p:cNvPr id="27" name="Text 20"/>
          <p:cNvSpPr/>
          <p:nvPr/>
        </p:nvSpPr>
        <p:spPr>
          <a:xfrm>
            <a:off x="9290304" y="4069080"/>
            <a:ext cx="2240280" cy="365760"/>
          </a:xfrm>
          <a:prstGeom prst="rect">
            <a:avLst/>
          </a:prstGeom>
          <a:noFill/>
          <a:ln/>
        </p:spPr>
        <p:txBody>
          <a:bodyPr wrap="square" rtlCol="0" anchor="ctr"/>
          <a:lstStyle/>
          <a:p>
            <a:pPr algn="ctr" indent="0" marL="0">
              <a:buNone/>
            </a:pPr>
            <a:r>
              <a:rPr lang="en-US" sz="1300" b="1" dirty="0">
                <a:solidFill>
                  <a:srgbClr val="0B6E4F"/>
                </a:solidFill>
                <a:latin typeface="Calibri" pitchFamily="34" charset="0"/>
                <a:ea typeface="Calibri" pitchFamily="34" charset="-122"/>
                <a:cs typeface="Calibri" pitchFamily="34" charset="-120"/>
              </a:rPr>
              <a:t>4. Suggest</a:t>
            </a:r>
            <a:endParaRPr lang="en-US" sz="1300" dirty="0"/>
          </a:p>
        </p:txBody>
      </p:sp>
      <p:sp>
        <p:nvSpPr>
          <p:cNvPr id="28" name="Text 21"/>
          <p:cNvSpPr/>
          <p:nvPr/>
        </p:nvSpPr>
        <p:spPr>
          <a:xfrm>
            <a:off x="9308592" y="4434840"/>
            <a:ext cx="2203704" cy="960120"/>
          </a:xfrm>
          <a:prstGeom prst="rect">
            <a:avLst/>
          </a:prstGeom>
          <a:noFill/>
          <a:ln/>
        </p:spPr>
        <p:txBody>
          <a:bodyPr wrap="square" rtlCol="0" anchor="t"/>
          <a:lstStyle/>
          <a:p>
            <a:pPr algn="ctr" indent="0" marL="0">
              <a:buNone/>
            </a:pPr>
            <a:r>
              <a:rPr lang="en-US" sz="1000" dirty="0">
                <a:solidFill>
                  <a:srgbClr val="2B332F"/>
                </a:solidFill>
                <a:latin typeface="Calibri" pitchFamily="34" charset="0"/>
                <a:ea typeface="Calibri" pitchFamily="34" charset="-122"/>
                <a:cs typeface="Calibri" pitchFamily="34" charset="-120"/>
              </a:rPr>
              <a:t>Recommends one matching green-skill path (e.g. Solar/Suryamitra, e-waste recycling, energy auditing) from SCGJ.</a:t>
            </a:r>
            <a:endParaRPr lang="en-US" sz="1000" dirty="0"/>
          </a:p>
        </p:txBody>
      </p:sp>
      <p:sp>
        <p:nvSpPr>
          <p:cNvPr id="29" name="Text 22"/>
          <p:cNvSpPr/>
          <p:nvPr/>
        </p:nvSpPr>
        <p:spPr>
          <a:xfrm>
            <a:off x="548640" y="5715000"/>
            <a:ext cx="11064240" cy="365760"/>
          </a:xfrm>
          <a:prstGeom prst="rect">
            <a:avLst/>
          </a:prstGeom>
          <a:noFill/>
          <a:ln/>
        </p:spPr>
        <p:txBody>
          <a:bodyPr wrap="square" rtlCol="0" anchor="ctr"/>
          <a:lstStyle/>
          <a:p>
            <a:pPr indent="0" marL="0">
              <a:buNone/>
            </a:pPr>
            <a:r>
              <a:rPr lang="en-US" sz="1100" i="1" dirty="0">
                <a:solidFill>
                  <a:srgbClr val="0B6E4F"/>
                </a:solidFill>
                <a:latin typeface="Calibri" pitchFamily="34" charset="0"/>
                <a:ea typeface="Calibri" pitchFamily="34" charset="-122"/>
                <a:cs typeface="Calibri" pitchFamily="34" charset="-120"/>
              </a:rPr>
              <a:t>Deliverable: greensetu.py (Python code) + this presentation, together forming the complete capstone submission.</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Slides>
  <Notes>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vt:i4>
      </vt:variant>
    </vt:vector>
  </HeadingPairs>
  <TitlesOfParts>
    <vt:vector size="8" baseType="lpstr">
      <vt:lpstr>Arial</vt:lpstr>
      <vt:lpstr>Calibri</vt:lpstr>
      <vt:lpstr>Office Theme</vt:lpstr>
      <vt:lpstr>Slide 1</vt:lpstr>
      <vt:lpstr>Slide 2</vt:lpstr>
      <vt:lpstr>Slide 3</vt:lpstr>
      <vt:lpstr>Slide 4</vt:lpstr>
      <vt:lpstr>Slide 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AI for Sustainability &amp; Green Skilling - SDG 17</dc:title>
  <dc:subject>PptxGenJS Presentation</dc:subject>
  <dc:creator>Yash Bhaveshbhai Lad</dc:creator>
  <cp:lastModifiedBy>Yash Bhaveshbhai Lad</cp:lastModifiedBy>
  <cp:revision>1</cp:revision>
  <dcterms:created xsi:type="dcterms:W3CDTF">2026-07-06T11:00:35Z</dcterms:created>
  <dcterms:modified xsi:type="dcterms:W3CDTF">2026-07-06T11:00:35Z</dcterms:modified>
</cp:coreProperties>
</file>